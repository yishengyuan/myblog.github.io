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78" r:id="rId3"/>
    <p:sldId id="284" r:id="rId4"/>
    <p:sldId id="279" r:id="rId5"/>
    <p:sldId id="280" r:id="rId6"/>
    <p:sldId id="282" r:id="rId7"/>
    <p:sldId id="28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howGuides="1">
      <p:cViewPr>
        <p:scale>
          <a:sx n="140" d="100"/>
          <a:sy n="140" d="100"/>
        </p:scale>
        <p:origin x="144" y="5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30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06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周五PPT-1">
            <a:extLst>
              <a:ext uri="{FF2B5EF4-FFF2-40B4-BE49-F238E27FC236}">
                <a16:creationId xmlns:a16="http://schemas.microsoft.com/office/drawing/2014/main" id="{14DDE1D4-7FB7-9D6B-6F0E-7F6857F2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" name="周五PPT-2">
            <a:extLst>
              <a:ext uri="{FF2B5EF4-FFF2-40B4-BE49-F238E27FC236}">
                <a16:creationId xmlns:a16="http://schemas.microsoft.com/office/drawing/2014/main" id="{590220E1-1E60-94A9-F09A-A0099D27B8EC}"/>
              </a:ext>
            </a:extLst>
          </p:cNvPr>
          <p:cNvGrpSpPr/>
          <p:nvPr/>
        </p:nvGrpSpPr>
        <p:grpSpPr>
          <a:xfrm>
            <a:off x="651034" y="404998"/>
            <a:ext cx="223679" cy="143861"/>
            <a:chOff x="10749120" y="871596"/>
            <a:chExt cx="223679" cy="143861"/>
          </a:xfrm>
        </p:grpSpPr>
        <p:cxnSp>
          <p:nvCxnSpPr>
            <p:cNvPr id="4" name="周五PPT-2-1">
              <a:extLst>
                <a:ext uri="{FF2B5EF4-FFF2-40B4-BE49-F238E27FC236}">
                  <a16:creationId xmlns:a16="http://schemas.microsoft.com/office/drawing/2014/main" id="{6D1B88E0-FF66-C150-6D4F-320077AC456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1015457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tx1">
                  <a:lumMod val="75000"/>
                  <a:lumOff val="25000"/>
                  <a:alpha val="50000"/>
                </a:schemeClr>
              </a:solidFill>
              <a:prstDash val="solid"/>
              <a:round/>
            </a:ln>
            <a:effectLst/>
          </p:spPr>
        </p:cxnSp>
        <p:cxnSp>
          <p:nvCxnSpPr>
            <p:cNvPr id="5" name="周五PPT-2-2">
              <a:extLst>
                <a:ext uri="{FF2B5EF4-FFF2-40B4-BE49-F238E27FC236}">
                  <a16:creationId xmlns:a16="http://schemas.microsoft.com/office/drawing/2014/main" id="{4C1636B1-C549-57A6-B93F-C5F10092388D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943527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accent1">
                  <a:alpha val="50000"/>
                </a:schemeClr>
              </a:solidFill>
              <a:prstDash val="solid"/>
              <a:round/>
            </a:ln>
            <a:effectLst/>
          </p:spPr>
        </p:cxnSp>
        <p:cxnSp>
          <p:nvCxnSpPr>
            <p:cNvPr id="6" name="周五PPT-2-3">
              <a:extLst>
                <a:ext uri="{FF2B5EF4-FFF2-40B4-BE49-F238E27FC236}">
                  <a16:creationId xmlns:a16="http://schemas.microsoft.com/office/drawing/2014/main" id="{699FC12F-7890-34DC-6715-44B5126BFD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871596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tx1">
                  <a:lumMod val="75000"/>
                  <a:lumOff val="25000"/>
                  <a:alpha val="50000"/>
                </a:schemeClr>
              </a:solidFill>
              <a:prstDash val="solid"/>
              <a:round/>
            </a:ln>
            <a:effectLst/>
          </p:spPr>
        </p:cxnSp>
      </p:grpSp>
      <p:sp>
        <p:nvSpPr>
          <p:cNvPr id="34" name="周五PPT-5">
            <a:extLst>
              <a:ext uri="{FF2B5EF4-FFF2-40B4-BE49-F238E27FC236}">
                <a16:creationId xmlns:a16="http://schemas.microsoft.com/office/drawing/2014/main" id="{36B3AE8D-F2FE-7F48-2F80-57C5F3AF0B66}"/>
              </a:ext>
            </a:extLst>
          </p:cNvPr>
          <p:cNvSpPr txBox="1"/>
          <p:nvPr/>
        </p:nvSpPr>
        <p:spPr>
          <a:xfrm>
            <a:off x="4249499" y="1346398"/>
            <a:ext cx="366760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8100"/>
                    </a:gs>
                    <a:gs pos="73000">
                      <a:srgbClr val="FF8100">
                        <a:alpha val="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04</a:t>
            </a:r>
          </a:p>
        </p:txBody>
      </p:sp>
      <p:sp>
        <p:nvSpPr>
          <p:cNvPr id="35" name="周五PPT-6">
            <a:extLst>
              <a:ext uri="{FF2B5EF4-FFF2-40B4-BE49-F238E27FC236}">
                <a16:creationId xmlns:a16="http://schemas.microsoft.com/office/drawing/2014/main" id="{D6951DEF-A0B4-3B2C-7680-E611E277F33B}"/>
              </a:ext>
            </a:extLst>
          </p:cNvPr>
          <p:cNvSpPr txBox="1"/>
          <p:nvPr/>
        </p:nvSpPr>
        <p:spPr>
          <a:xfrm>
            <a:off x="2918361" y="2973189"/>
            <a:ext cx="6329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详细设计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订单簿模式</a:t>
            </a:r>
          </a:p>
        </p:txBody>
      </p:sp>
      <p:sp>
        <p:nvSpPr>
          <p:cNvPr id="37" name="周五PPT-8">
            <a:extLst>
              <a:ext uri="{FF2B5EF4-FFF2-40B4-BE49-F238E27FC236}">
                <a16:creationId xmlns:a16="http://schemas.microsoft.com/office/drawing/2014/main" id="{4EF10ACB-F46F-AA74-4E27-940643D8EED2}"/>
              </a:ext>
            </a:extLst>
          </p:cNvPr>
          <p:cNvSpPr/>
          <p:nvPr/>
        </p:nvSpPr>
        <p:spPr>
          <a:xfrm>
            <a:off x="-1648562" y="3227741"/>
            <a:ext cx="3759901" cy="6639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/>
              <a:ea typeface="OPPOSans L"/>
              <a:cs typeface="+mn-cs"/>
            </a:endParaRPr>
          </a:p>
        </p:txBody>
      </p:sp>
      <p:sp>
        <p:nvSpPr>
          <p:cNvPr id="38" name="周五PPT-9">
            <a:extLst>
              <a:ext uri="{FF2B5EF4-FFF2-40B4-BE49-F238E27FC236}">
                <a16:creationId xmlns:a16="http://schemas.microsoft.com/office/drawing/2014/main" id="{B35ECD25-5181-7EED-BCB6-77A314EA01E3}"/>
              </a:ext>
            </a:extLst>
          </p:cNvPr>
          <p:cNvSpPr/>
          <p:nvPr/>
        </p:nvSpPr>
        <p:spPr>
          <a:xfrm>
            <a:off x="10055259" y="3227741"/>
            <a:ext cx="3759901" cy="6639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/>
              <a:ea typeface="OPPOSans 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5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562-B081-92A4-0C0D-1E3DF7EB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1504C9B3-20F5-DE10-0C6D-6939C6C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D7E1C812-3735-1F65-037A-1784E7164967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37790A00-DAD6-9CA1-27CB-6D3E834DAC96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BD844630-352B-04F0-4173-FA8D36DF0C86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E77904CE-6915-9A39-1BFA-ABC42A1292E1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2BCFAA20-6D0A-EC11-96EF-D210E622D4F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55EA3F23-EC72-F578-23CE-867F49EEAB66}"/>
              </a:ext>
            </a:extLst>
          </p:cNvPr>
          <p:cNvSpPr txBox="1"/>
          <p:nvPr/>
        </p:nvSpPr>
        <p:spPr>
          <a:xfrm>
            <a:off x="3999773" y="2906950"/>
            <a:ext cx="72422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订单薄模式的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基础概念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65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周五PPT-3-1">
            <a:extLst>
              <a:ext uri="{FF2B5EF4-FFF2-40B4-BE49-F238E27FC236}">
                <a16:creationId xmlns:a16="http://schemas.microsoft.com/office/drawing/2014/main" id="{0EFB8B2A-2A51-9232-2277-659B435D3F9F}"/>
              </a:ext>
            </a:extLst>
          </p:cNvPr>
          <p:cNvSpPr txBox="1"/>
          <p:nvPr/>
        </p:nvSpPr>
        <p:spPr>
          <a:xfrm>
            <a:off x="660399" y="545525"/>
            <a:ext cx="3625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Cex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的交易模式和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DEX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的区别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5C6115F-4DA8-849C-52E7-32936DD67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864" y="1130300"/>
            <a:ext cx="4536209" cy="287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A639956-A501-5A48-7FDC-87BBB9CDE727}"/>
              </a:ext>
            </a:extLst>
          </p:cNvPr>
          <p:cNvSpPr txBox="1"/>
          <p:nvPr/>
        </p:nvSpPr>
        <p:spPr>
          <a:xfrm>
            <a:off x="1121184" y="2423662"/>
            <a:ext cx="225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DEX</a:t>
            </a:r>
            <a:r>
              <a:rPr kumimoji="1" lang="zh-CN" altLang="en-US" dirty="0"/>
              <a:t>里的</a:t>
            </a:r>
            <a:r>
              <a:rPr kumimoji="1" lang="en-US" altLang="zh-CN" dirty="0"/>
              <a:t>AMM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2DC5CA-7668-6ED7-1D24-7974C9EB6267}"/>
              </a:ext>
            </a:extLst>
          </p:cNvPr>
          <p:cNvSpPr txBox="1"/>
          <p:nvPr/>
        </p:nvSpPr>
        <p:spPr>
          <a:xfrm>
            <a:off x="1040248" y="4224173"/>
            <a:ext cx="225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CEX</a:t>
            </a:r>
            <a:r>
              <a:rPr kumimoji="1" lang="zh-CN" altLang="en-US" dirty="0"/>
              <a:t>里的订单薄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D852CDA-27EA-3E06-89E1-3D75A59B752E}"/>
              </a:ext>
            </a:extLst>
          </p:cNvPr>
          <p:cNvSpPr/>
          <p:nvPr/>
        </p:nvSpPr>
        <p:spPr>
          <a:xfrm>
            <a:off x="5264728" y="4920131"/>
            <a:ext cx="1246909" cy="684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买单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EA6DEA7-017D-04D1-2B82-3E6C2FFFFD6E}"/>
              </a:ext>
            </a:extLst>
          </p:cNvPr>
          <p:cNvSpPr/>
          <p:nvPr/>
        </p:nvSpPr>
        <p:spPr>
          <a:xfrm>
            <a:off x="9904843" y="4920130"/>
            <a:ext cx="1246909" cy="684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卖单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13241E3-4F90-2DDD-1C06-93001E92D047}"/>
              </a:ext>
            </a:extLst>
          </p:cNvPr>
          <p:cNvSpPr/>
          <p:nvPr/>
        </p:nvSpPr>
        <p:spPr>
          <a:xfrm>
            <a:off x="7943275" y="4971506"/>
            <a:ext cx="581891" cy="5818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撮合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B50DB855-9E95-76CD-66CB-59C8ABE5E35F}"/>
              </a:ext>
            </a:extLst>
          </p:cNvPr>
          <p:cNvCxnSpPr>
            <a:stCxn id="5" idx="3"/>
            <a:endCxn id="7" idx="2"/>
          </p:cNvCxnSpPr>
          <p:nvPr/>
        </p:nvCxnSpPr>
        <p:spPr>
          <a:xfrm flipV="1">
            <a:off x="6511637" y="5262452"/>
            <a:ext cx="143163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7E0730B-BF24-D0DC-0F06-BB543F4D647C}"/>
              </a:ext>
            </a:extLst>
          </p:cNvPr>
          <p:cNvCxnSpPr>
            <a:stCxn id="6" idx="1"/>
            <a:endCxn id="7" idx="6"/>
          </p:cNvCxnSpPr>
          <p:nvPr/>
        </p:nvCxnSpPr>
        <p:spPr>
          <a:xfrm flipH="1" flipV="1">
            <a:off x="8525166" y="5262452"/>
            <a:ext cx="137967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693410A-E2EA-8E56-D680-A3A8C1F5D0DA}"/>
              </a:ext>
            </a:extLst>
          </p:cNvPr>
          <p:cNvSpPr txBox="1"/>
          <p:nvPr/>
        </p:nvSpPr>
        <p:spPr>
          <a:xfrm>
            <a:off x="1040248" y="4787296"/>
            <a:ext cx="1339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最优价格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51C4E9-BD5F-E4B0-D32D-90A8B077F1A9}"/>
              </a:ext>
            </a:extLst>
          </p:cNvPr>
          <p:cNvSpPr txBox="1"/>
          <p:nvPr/>
        </p:nvSpPr>
        <p:spPr>
          <a:xfrm>
            <a:off x="1730783" y="5235443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卖单：价格最低的卖单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F85DF3-C4C5-1B95-D08B-6159E7F19889}"/>
              </a:ext>
            </a:extLst>
          </p:cNvPr>
          <p:cNvSpPr txBox="1"/>
          <p:nvPr/>
        </p:nvSpPr>
        <p:spPr>
          <a:xfrm>
            <a:off x="1749256" y="564852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买单：价格最高的买单</a:t>
            </a:r>
          </a:p>
        </p:txBody>
      </p:sp>
    </p:spTree>
    <p:extLst>
      <p:ext uri="{BB962C8B-B14F-4D97-AF65-F5344CB8AC3E}">
        <p14:creationId xmlns:p14="http://schemas.microsoft.com/office/powerpoint/2010/main" val="364994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562-B081-92A4-0C0D-1E3DF7EB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1504C9B3-20F5-DE10-0C6D-6939C6C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D7E1C812-3735-1F65-037A-1784E7164967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37790A00-DAD6-9CA1-27CB-6D3E834DAC96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BD844630-352B-04F0-4173-FA8D36DF0C86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E77904CE-6915-9A39-1BFA-ABC42A1292E1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2BCFAA20-6D0A-EC11-96EF-D210E622D4F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55EA3F23-EC72-F578-23CE-867F49EEAB66}"/>
              </a:ext>
            </a:extLst>
          </p:cNvPr>
          <p:cNvSpPr txBox="1"/>
          <p:nvPr/>
        </p:nvSpPr>
        <p:spPr>
          <a:xfrm>
            <a:off x="660400" y="545525"/>
            <a:ext cx="299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订单薄模式的</a:t>
            </a: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基础概念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48369A-CA29-A96F-E7B1-FCC574DA3EC1}"/>
              </a:ext>
            </a:extLst>
          </p:cNvPr>
          <p:cNvSpPr txBox="1"/>
          <p:nvPr/>
        </p:nvSpPr>
        <p:spPr>
          <a:xfrm>
            <a:off x="1482152" y="2047043"/>
            <a:ext cx="87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代币对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393A2C-4D6C-9722-64DA-531CD167F0D8}"/>
              </a:ext>
            </a:extLst>
          </p:cNvPr>
          <p:cNvSpPr txBox="1"/>
          <p:nvPr/>
        </p:nvSpPr>
        <p:spPr>
          <a:xfrm>
            <a:off x="3177308" y="2047043"/>
            <a:ext cx="1130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BTC/USDT</a:t>
            </a:r>
            <a:endParaRPr kumimoji="1" lang="zh-CN" altLang="en-US" dirty="0"/>
          </a:p>
        </p:txBody>
      </p:sp>
      <p:pic>
        <p:nvPicPr>
          <p:cNvPr id="12" name="图片 11" descr="图形用户界面, 应用程序, 表格&#10;&#10;描述已自动生成">
            <a:extLst>
              <a:ext uri="{FF2B5EF4-FFF2-40B4-BE49-F238E27FC236}">
                <a16:creationId xmlns:a16="http://schemas.microsoft.com/office/drawing/2014/main" id="{D8413DA3-CA96-8F95-09BF-5C206E5D1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091" y="1638013"/>
            <a:ext cx="6045200" cy="17526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C094C2E-7B74-C330-D951-92284D3B337E}"/>
              </a:ext>
            </a:extLst>
          </p:cNvPr>
          <p:cNvSpPr txBox="1"/>
          <p:nvPr/>
        </p:nvSpPr>
        <p:spPr>
          <a:xfrm>
            <a:off x="1482152" y="2593659"/>
            <a:ext cx="87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基币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3E9ED00-BF57-DF3C-BCFA-B58EBF3EBCC4}"/>
              </a:ext>
            </a:extLst>
          </p:cNvPr>
          <p:cNvSpPr txBox="1"/>
          <p:nvPr/>
        </p:nvSpPr>
        <p:spPr>
          <a:xfrm>
            <a:off x="3177308" y="2592568"/>
            <a:ext cx="690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USDT</a:t>
            </a:r>
            <a:endParaRPr kumimoji="1" lang="zh-CN" altLang="en-US" dirty="0"/>
          </a:p>
        </p:txBody>
      </p:sp>
      <p:pic>
        <p:nvPicPr>
          <p:cNvPr id="16" name="图片 15" descr="表格&#10;&#10;描述已自动生成">
            <a:extLst>
              <a:ext uri="{FF2B5EF4-FFF2-40B4-BE49-F238E27FC236}">
                <a16:creationId xmlns:a16="http://schemas.microsoft.com/office/drawing/2014/main" id="{8CA5781A-C663-42BF-A5AE-9D7DB5ACC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972" y="4441626"/>
            <a:ext cx="5119255" cy="1357838"/>
          </a:xfrm>
          <a:prstGeom prst="rect">
            <a:avLst/>
          </a:prstGeom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DA85850-0C7F-F609-8CDD-B12363AC0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227" y="3897743"/>
            <a:ext cx="5119255" cy="244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8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562-B081-92A4-0C0D-1E3DF7EB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1504C9B3-20F5-DE10-0C6D-6939C6C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D7E1C812-3735-1F65-037A-1784E7164967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37790A00-DAD6-9CA1-27CB-6D3E834DAC96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BD844630-352B-04F0-4173-FA8D36DF0C86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E77904CE-6915-9A39-1BFA-ABC42A1292E1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2BCFAA20-6D0A-EC11-96EF-D210E622D4F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55EA3F23-EC72-F578-23CE-867F49EEAB66}"/>
              </a:ext>
            </a:extLst>
          </p:cNvPr>
          <p:cNvSpPr txBox="1"/>
          <p:nvPr/>
        </p:nvSpPr>
        <p:spPr>
          <a:xfrm>
            <a:off x="660400" y="545525"/>
            <a:ext cx="299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订单薄模式的</a:t>
            </a: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基础概念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B231A20-42B7-038B-B670-54EBD4737B62}"/>
              </a:ext>
            </a:extLst>
          </p:cNvPr>
          <p:cNvSpPr txBox="1"/>
          <p:nvPr/>
        </p:nvSpPr>
        <p:spPr>
          <a:xfrm>
            <a:off x="941993" y="1538099"/>
            <a:ext cx="1141626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限价盘</a:t>
            </a:r>
          </a:p>
          <a:p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）买单：以</a:t>
            </a:r>
            <a:r>
              <a:rPr lang="en-US" altLang="zh-CN" sz="1400" dirty="0"/>
              <a:t>x</a:t>
            </a:r>
            <a:r>
              <a:rPr lang="zh-CN" altLang="en-US" sz="1400" dirty="0"/>
              <a:t>价格（</a:t>
            </a:r>
            <a:r>
              <a:rPr lang="en" altLang="zh-CN" sz="1400" dirty="0"/>
              <a:t>USDT</a:t>
            </a:r>
            <a:r>
              <a:rPr lang="zh-CN" altLang="en" sz="1400" dirty="0"/>
              <a:t>）</a:t>
            </a:r>
            <a:r>
              <a:rPr lang="zh-CN" altLang="en-US" sz="1400" dirty="0"/>
              <a:t>买入</a:t>
            </a:r>
            <a:r>
              <a:rPr lang="en-US" altLang="zh-CN" sz="1400" dirty="0"/>
              <a:t>y(</a:t>
            </a:r>
            <a:r>
              <a:rPr lang="zh-CN" altLang="en-US" sz="1400" dirty="0"/>
              <a:t>手动输入</a:t>
            </a:r>
            <a:r>
              <a:rPr lang="en-US" altLang="zh-CN" sz="1400" dirty="0"/>
              <a:t>)</a:t>
            </a:r>
            <a:r>
              <a:rPr lang="zh-CN" altLang="en-US" sz="1400" dirty="0"/>
              <a:t>的</a:t>
            </a:r>
            <a:r>
              <a:rPr lang="en" altLang="zh-CN" sz="1400" dirty="0"/>
              <a:t>ETH</a:t>
            </a:r>
            <a:r>
              <a:rPr lang="zh-CN" altLang="en-US" sz="1400" dirty="0"/>
              <a:t>，使用的</a:t>
            </a:r>
            <a:r>
              <a:rPr lang="en-US" altLang="zh-CN" sz="1400" dirty="0"/>
              <a:t>USDT</a:t>
            </a:r>
            <a:r>
              <a:rPr lang="zh-CN" altLang="en-US" sz="1400" dirty="0"/>
              <a:t>不超过持有量</a:t>
            </a:r>
            <a:r>
              <a:rPr lang="en-US" altLang="zh-CN" sz="1400" dirty="0"/>
              <a:t>,</a:t>
            </a:r>
            <a:r>
              <a:rPr lang="zh-CN" altLang="en-US" sz="1400" dirty="0"/>
              <a:t>使用</a:t>
            </a:r>
            <a:r>
              <a:rPr lang="en-US" altLang="zh-CN" sz="1400" dirty="0"/>
              <a:t>x*y</a:t>
            </a:r>
            <a:r>
              <a:rPr lang="zh-CN" altLang="en-US" sz="1400" dirty="0"/>
              <a:t>的</a:t>
            </a:r>
            <a:r>
              <a:rPr lang="en-US" altLang="zh-CN" sz="1400" dirty="0"/>
              <a:t>USDT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r>
              <a:rPr lang="zh-CN" altLang="en-US" sz="1400" dirty="0"/>
              <a:t>          我愿意</a:t>
            </a:r>
            <a:r>
              <a:rPr lang="en-US" altLang="zh-CN" sz="1400" dirty="0"/>
              <a:t>100</a:t>
            </a:r>
            <a:r>
              <a:rPr lang="zh-CN" altLang="en-US" sz="1400" dirty="0"/>
              <a:t>元的价格买</a:t>
            </a:r>
            <a:r>
              <a:rPr lang="en-US" altLang="zh-CN" sz="1400" dirty="0"/>
              <a:t>6</a:t>
            </a:r>
            <a:r>
              <a:rPr lang="zh-CN" altLang="en-US" sz="1400" dirty="0"/>
              <a:t>个苹果，如果这个价格高于市场价，就会很快成交，反之如果这个价格远低于市场价，就没有卖家愿意接单</a:t>
            </a:r>
            <a:endParaRPr lang="en" altLang="zh-CN" sz="1400" dirty="0"/>
          </a:p>
          <a:p>
            <a:r>
              <a:rPr lang="zh-CN" altLang="en" sz="1400" dirty="0"/>
              <a:t>（</a:t>
            </a:r>
            <a:r>
              <a:rPr lang="en" altLang="zh-CN" sz="1400" dirty="0"/>
              <a:t>2</a:t>
            </a:r>
            <a:r>
              <a:rPr lang="zh-CN" altLang="en" sz="1400" dirty="0"/>
              <a:t>）</a:t>
            </a:r>
            <a:r>
              <a:rPr lang="zh-CN" altLang="en-US" sz="1400" dirty="0"/>
              <a:t>卖单：以</a:t>
            </a:r>
            <a:r>
              <a:rPr lang="en-US" altLang="zh-CN" sz="1400" dirty="0"/>
              <a:t>x</a:t>
            </a:r>
            <a:r>
              <a:rPr lang="zh-CN" altLang="en-US" sz="1400" dirty="0"/>
              <a:t>的价格（</a:t>
            </a:r>
            <a:r>
              <a:rPr lang="en" altLang="zh-CN" sz="1400" dirty="0"/>
              <a:t>USDT</a:t>
            </a:r>
            <a:r>
              <a:rPr lang="zh-CN" altLang="en" sz="1400" dirty="0"/>
              <a:t>）</a:t>
            </a:r>
            <a:r>
              <a:rPr lang="zh-CN" altLang="en-US" sz="1400" dirty="0"/>
              <a:t>卖出</a:t>
            </a:r>
            <a:r>
              <a:rPr lang="en-US" altLang="zh-CN" sz="1400" dirty="0"/>
              <a:t>y</a:t>
            </a:r>
            <a:r>
              <a:rPr lang="zh-CN" altLang="en-US" sz="1400" dirty="0"/>
              <a:t>（手动输入）的</a:t>
            </a:r>
            <a:r>
              <a:rPr lang="en" altLang="zh-CN" sz="1400" dirty="0"/>
              <a:t>ETH</a:t>
            </a:r>
            <a:r>
              <a:rPr lang="zh-CN" altLang="en-US" sz="1400" dirty="0"/>
              <a:t>，最多卖出不超过持有量的</a:t>
            </a:r>
            <a:r>
              <a:rPr lang="en-US" altLang="zh-CN" sz="1400" dirty="0"/>
              <a:t>ETH</a:t>
            </a:r>
            <a:r>
              <a:rPr lang="zh-CN" altLang="en-US" sz="1400" dirty="0"/>
              <a:t>，如果成交成功，得到</a:t>
            </a:r>
            <a:r>
              <a:rPr lang="en-US" altLang="zh-CN" sz="1400" dirty="0"/>
              <a:t>x*y</a:t>
            </a:r>
            <a:r>
              <a:rPr lang="zh-CN" altLang="en-US" sz="1400" dirty="0"/>
              <a:t>的</a:t>
            </a:r>
            <a:r>
              <a:rPr lang="en-US" altLang="zh-CN" sz="1400" dirty="0"/>
              <a:t>USDT</a:t>
            </a:r>
            <a:endParaRPr lang="en" altLang="zh-CN" sz="1400" dirty="0"/>
          </a:p>
          <a:p>
            <a:r>
              <a:rPr lang="zh-CN" altLang="en-US" sz="1400" dirty="0"/>
              <a:t>          </a:t>
            </a:r>
            <a:r>
              <a:rPr lang="zh-CN" altLang="en" sz="1400" dirty="0"/>
              <a:t>我</a:t>
            </a:r>
            <a:r>
              <a:rPr lang="zh-CN" altLang="en-US" sz="1400" dirty="0"/>
              <a:t>愿以</a:t>
            </a:r>
            <a:r>
              <a:rPr lang="en-US" altLang="zh-CN" sz="1400" dirty="0"/>
              <a:t>50</a:t>
            </a:r>
            <a:r>
              <a:rPr lang="zh-CN" altLang="en-US" sz="1400" dirty="0"/>
              <a:t>元钱的价格卖出</a:t>
            </a:r>
            <a:r>
              <a:rPr lang="en-US" altLang="zh-CN" sz="1400" dirty="0"/>
              <a:t>4</a:t>
            </a:r>
            <a:r>
              <a:rPr lang="zh-CN" altLang="en-US" sz="1400" dirty="0"/>
              <a:t>个苹果，如果这个价格低于市场价，就会很快成交，反之如果这个价格远高市场价，就没有买家愿意接单</a:t>
            </a:r>
            <a:endParaRPr lang="en" altLang="zh-CN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DD7EAF2-F441-8D20-FDCA-4D1D8D94965C}"/>
              </a:ext>
            </a:extLst>
          </p:cNvPr>
          <p:cNvSpPr txBox="1"/>
          <p:nvPr/>
        </p:nvSpPr>
        <p:spPr>
          <a:xfrm>
            <a:off x="912719" y="2774588"/>
            <a:ext cx="755389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市价盘</a:t>
            </a:r>
          </a:p>
          <a:p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）买单：以市场价花费最高不超过余额数目的</a:t>
            </a:r>
            <a:r>
              <a:rPr lang="en" altLang="zh-CN" sz="1400" dirty="0"/>
              <a:t>USDT</a:t>
            </a:r>
            <a:r>
              <a:rPr lang="zh-CN" altLang="en-US" sz="1400" dirty="0"/>
              <a:t>（成交额）</a:t>
            </a:r>
            <a:r>
              <a:rPr lang="zh-CN" altLang="en" sz="1400" dirty="0"/>
              <a:t>，</a:t>
            </a:r>
            <a:r>
              <a:rPr lang="zh-CN" altLang="en-US" sz="1400" dirty="0"/>
              <a:t>购买尽可能多的</a:t>
            </a:r>
            <a:r>
              <a:rPr lang="en" altLang="zh-CN" sz="1400" dirty="0"/>
              <a:t>ETH</a:t>
            </a:r>
          </a:p>
          <a:p>
            <a:r>
              <a:rPr lang="zh-CN" altLang="en" sz="1400" dirty="0"/>
              <a:t>（</a:t>
            </a:r>
            <a:r>
              <a:rPr lang="en" altLang="zh-CN" sz="1400" dirty="0"/>
              <a:t>2</a:t>
            </a:r>
            <a:r>
              <a:rPr lang="zh-CN" altLang="en" sz="1400" dirty="0"/>
              <a:t>）</a:t>
            </a:r>
            <a:r>
              <a:rPr lang="zh-CN" altLang="en-US" sz="1400" dirty="0"/>
              <a:t>卖单：以市场价卖出指定数量（手动输入）的</a:t>
            </a:r>
            <a:r>
              <a:rPr lang="en" altLang="zh-CN" sz="1400" dirty="0"/>
              <a:t>ETH</a:t>
            </a:r>
            <a:r>
              <a:rPr lang="zh-CN" altLang="en-US" sz="1400" dirty="0"/>
              <a:t>，使用数量不超过持有的</a:t>
            </a:r>
            <a:r>
              <a:rPr lang="en-US" altLang="zh-CN" sz="1400" dirty="0"/>
              <a:t>ETH</a:t>
            </a:r>
            <a:endParaRPr lang="en" altLang="zh-CN" sz="1400" dirty="0"/>
          </a:p>
        </p:txBody>
      </p:sp>
      <p:pic>
        <p:nvPicPr>
          <p:cNvPr id="25" name="图片 24" descr="表格&#10;&#10;描述已自动生成">
            <a:extLst>
              <a:ext uri="{FF2B5EF4-FFF2-40B4-BE49-F238E27FC236}">
                <a16:creationId xmlns:a16="http://schemas.microsoft.com/office/drawing/2014/main" id="{27D569A3-347F-6B42-CCC5-64FABF015D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497"/>
          <a:stretch/>
        </p:blipFill>
        <p:spPr>
          <a:xfrm>
            <a:off x="744512" y="3865126"/>
            <a:ext cx="4049161" cy="2268000"/>
          </a:xfrm>
          <a:prstGeom prst="rect">
            <a:avLst/>
          </a:prstGeom>
        </p:spPr>
      </p:pic>
      <p:pic>
        <p:nvPicPr>
          <p:cNvPr id="27" name="图片 26" descr="图形用户界面, 应用程序&#10;&#10;描述已自动生成">
            <a:extLst>
              <a:ext uri="{FF2B5EF4-FFF2-40B4-BE49-F238E27FC236}">
                <a16:creationId xmlns:a16="http://schemas.microsoft.com/office/drawing/2014/main" id="{E81B6640-11BD-E1D1-72AD-7CE2E1910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392" y="3574807"/>
            <a:ext cx="5657272" cy="1178327"/>
          </a:xfrm>
          <a:prstGeom prst="rect">
            <a:avLst/>
          </a:prstGeom>
        </p:spPr>
      </p:pic>
      <p:pic>
        <p:nvPicPr>
          <p:cNvPr id="29" name="图片 28" descr="图形用户界面&#10;&#10;描述已自动生成">
            <a:extLst>
              <a:ext uri="{FF2B5EF4-FFF2-40B4-BE49-F238E27FC236}">
                <a16:creationId xmlns:a16="http://schemas.microsoft.com/office/drawing/2014/main" id="{69B9C81F-49B6-A591-392B-996863229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747" y="4958099"/>
            <a:ext cx="5737822" cy="10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562-B081-92A4-0C0D-1E3DF7EB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1504C9B3-20F5-DE10-0C6D-6939C6C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D7E1C812-3735-1F65-037A-1784E7164967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37790A00-DAD6-9CA1-27CB-6D3E834DAC96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BD844630-352B-04F0-4173-FA8D36DF0C86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E77904CE-6915-9A39-1BFA-ABC42A1292E1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2BCFAA20-6D0A-EC11-96EF-D210E622D4F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55EA3F23-EC72-F578-23CE-867F49EEAB66}"/>
              </a:ext>
            </a:extLst>
          </p:cNvPr>
          <p:cNvSpPr txBox="1"/>
          <p:nvPr/>
        </p:nvSpPr>
        <p:spPr>
          <a:xfrm>
            <a:off x="660400" y="545525"/>
            <a:ext cx="299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订单薄模式的</a:t>
            </a: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基础概念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FF5B1A-D7B5-3136-075D-D0D9D95CCD2F}"/>
              </a:ext>
            </a:extLst>
          </p:cNvPr>
          <p:cNvSpPr txBox="1"/>
          <p:nvPr/>
        </p:nvSpPr>
        <p:spPr>
          <a:xfrm>
            <a:off x="1084648" y="2228671"/>
            <a:ext cx="31542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盘口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是订单簿的可视化展示，通常显示最优的几档买卖价格</a:t>
            </a:r>
            <a:endParaRPr kumimoji="1" lang="zh-CN" altLang="en-US" dirty="0"/>
          </a:p>
        </p:txBody>
      </p:sp>
      <p:pic>
        <p:nvPicPr>
          <p:cNvPr id="13" name="图片 12" descr="图形用户界面, 文本&#10;&#10;中度可信度描述已自动生成">
            <a:extLst>
              <a:ext uri="{FF2B5EF4-FFF2-40B4-BE49-F238E27FC236}">
                <a16:creationId xmlns:a16="http://schemas.microsoft.com/office/drawing/2014/main" id="{B8FE01A5-0C25-A912-F8C3-7F97BBD2A5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9" t="2699" r="841" b="2391"/>
          <a:stretch/>
        </p:blipFill>
        <p:spPr>
          <a:xfrm>
            <a:off x="4966738" y="1607005"/>
            <a:ext cx="6031346" cy="2927927"/>
          </a:xfrm>
          <a:prstGeom prst="rect">
            <a:avLst/>
          </a:prstGeom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AC404FDA-DD83-2771-D969-137D3F3BCD18}"/>
              </a:ext>
            </a:extLst>
          </p:cNvPr>
          <p:cNvSpPr/>
          <p:nvPr/>
        </p:nvSpPr>
        <p:spPr>
          <a:xfrm>
            <a:off x="3283527" y="5191081"/>
            <a:ext cx="1258455" cy="6465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交易服务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6CAA6B6-BAC5-11E4-1D50-7747F101B260}"/>
              </a:ext>
            </a:extLst>
          </p:cNvPr>
          <p:cNvSpPr/>
          <p:nvPr/>
        </p:nvSpPr>
        <p:spPr>
          <a:xfrm>
            <a:off x="7164992" y="5191081"/>
            <a:ext cx="1258455" cy="6465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市场服务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D79FA6E-8737-CC7D-0C11-C189B07205A4}"/>
              </a:ext>
            </a:extLst>
          </p:cNvPr>
          <p:cNvCxnSpPr>
            <a:endCxn id="15" idx="1"/>
          </p:cNvCxnSpPr>
          <p:nvPr/>
        </p:nvCxnSpPr>
        <p:spPr>
          <a:xfrm>
            <a:off x="4578927" y="5514354"/>
            <a:ext cx="25860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82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562-B081-92A4-0C0D-1E3DF7EB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1504C9B3-20F5-DE10-0C6D-6939C6C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D7E1C812-3735-1F65-037A-1784E7164967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37790A00-DAD6-9CA1-27CB-6D3E834DAC96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BD844630-352B-04F0-4173-FA8D36DF0C86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E77904CE-6915-9A39-1BFA-ABC42A1292E1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2BCFAA20-6D0A-EC11-96EF-D210E622D4F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55EA3F23-EC72-F578-23CE-867F49EEAB66}"/>
              </a:ext>
            </a:extLst>
          </p:cNvPr>
          <p:cNvSpPr txBox="1"/>
          <p:nvPr/>
        </p:nvSpPr>
        <p:spPr>
          <a:xfrm>
            <a:off x="660400" y="545525"/>
            <a:ext cx="299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订单薄模式的</a:t>
            </a: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基础概念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C701A4-9423-77DF-9387-59AED9EBD45C}"/>
              </a:ext>
            </a:extLst>
          </p:cNvPr>
          <p:cNvSpPr txBox="1"/>
          <p:nvPr/>
        </p:nvSpPr>
        <p:spPr>
          <a:xfrm>
            <a:off x="1533237" y="1972670"/>
            <a:ext cx="104324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深度的概念</a:t>
            </a:r>
          </a:p>
          <a:p>
            <a:r>
              <a:rPr lang="zh-CN" altLang="en-US" sz="1200" dirty="0"/>
              <a:t>深度反映了市场在不同价格水平上的订单数量，是流动性的重要指标。</a:t>
            </a:r>
            <a:endParaRPr lang="en-US" altLang="zh-CN" sz="1200" dirty="0"/>
          </a:p>
          <a:p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深度计算逻辑</a:t>
            </a:r>
          </a:p>
          <a:p>
            <a:r>
              <a:rPr lang="zh-CN" altLang="en-US" sz="1200" dirty="0"/>
              <a:t>深度信息通过订单簿聚合计算：</a:t>
            </a:r>
          </a:p>
          <a:p>
            <a:r>
              <a:rPr lang="en" altLang="zh-CN" sz="1200" dirty="0"/>
              <a:t>java</a:t>
            </a:r>
          </a:p>
          <a:p>
            <a:r>
              <a:rPr lang="en" altLang="zh-CN" sz="1200" i="1" dirty="0">
                <a:solidFill>
                  <a:srgbClr val="A0A1A7"/>
                </a:solidFill>
                <a:effectLst/>
              </a:rPr>
              <a:t>// </a:t>
            </a:r>
            <a:r>
              <a:rPr lang="zh-CN" altLang="en-US" sz="1200" i="1" dirty="0">
                <a:solidFill>
                  <a:srgbClr val="A0A1A7"/>
                </a:solidFill>
                <a:effectLst/>
              </a:rPr>
              <a:t>买单深度：从最高价开始累计</a:t>
            </a:r>
            <a:endParaRPr lang="en-US" altLang="zh-CN" sz="1200" i="1" dirty="0">
              <a:solidFill>
                <a:srgbClr val="A0A1A7"/>
              </a:solidFill>
              <a:effectLst/>
            </a:endParaRPr>
          </a:p>
          <a:p>
            <a:r>
              <a:rPr lang="zh-CN" altLang="en-US" sz="1200" dirty="0"/>
              <a:t> </a:t>
            </a:r>
            <a:r>
              <a:rPr lang="en" altLang="zh-CN" sz="1200" dirty="0" err="1">
                <a:solidFill>
                  <a:srgbClr val="B76B01"/>
                </a:solidFill>
                <a:effectLst/>
              </a:rPr>
              <a:t>TreeMap</a:t>
            </a:r>
            <a:r>
              <a:rPr lang="en" altLang="zh-CN" sz="1200" dirty="0">
                <a:solidFill>
                  <a:srgbClr val="383A42"/>
                </a:solidFill>
                <a:effectLst/>
              </a:rPr>
              <a:t>&lt;</a:t>
            </a:r>
            <a:r>
              <a:rPr lang="en" altLang="zh-CN" sz="1200" dirty="0" err="1">
                <a:solidFill>
                  <a:srgbClr val="B76B01"/>
                </a:solidFill>
                <a:effectLst/>
              </a:rPr>
              <a:t>BigDecimal</a:t>
            </a:r>
            <a:r>
              <a:rPr lang="en" altLang="zh-CN" sz="1200" dirty="0" err="1">
                <a:solidFill>
                  <a:srgbClr val="383A42"/>
                </a:solidFill>
                <a:effectLst/>
              </a:rPr>
              <a:t>,</a:t>
            </a:r>
            <a:r>
              <a:rPr lang="en" altLang="zh-CN" sz="1200" dirty="0" err="1">
                <a:solidFill>
                  <a:srgbClr val="B76B01"/>
                </a:solidFill>
                <a:effectLst/>
              </a:rPr>
              <a:t>MergeOrder</a:t>
            </a:r>
            <a:r>
              <a:rPr lang="en" altLang="zh-CN" sz="1200" dirty="0">
                <a:solidFill>
                  <a:srgbClr val="383A42"/>
                </a:solidFill>
                <a:effectLst/>
              </a:rPr>
              <a:t>&gt;</a:t>
            </a:r>
            <a:r>
              <a:rPr lang="en" altLang="zh-CN" sz="1200" dirty="0"/>
              <a:t> </a:t>
            </a:r>
            <a:r>
              <a:rPr lang="en" altLang="zh-CN" sz="1200" dirty="0" err="1"/>
              <a:t>buyQueue</a:t>
            </a:r>
            <a:r>
              <a:rPr lang="en" altLang="zh-CN" sz="1200" dirty="0"/>
              <a:t> </a:t>
            </a:r>
            <a:r>
              <a:rPr lang="en" altLang="zh-CN" sz="1200" dirty="0">
                <a:solidFill>
                  <a:srgbClr val="4078F2"/>
                </a:solidFill>
                <a:effectLst/>
              </a:rPr>
              <a:t>=</a:t>
            </a:r>
            <a:r>
              <a:rPr lang="en" altLang="zh-CN" sz="1200" dirty="0"/>
              <a:t> </a:t>
            </a:r>
            <a:r>
              <a:rPr lang="en" altLang="zh-CN" sz="1200" dirty="0" err="1"/>
              <a:t>buyLimitPriceQueue</a:t>
            </a:r>
            <a:r>
              <a:rPr lang="en" altLang="zh-CN" sz="1200" dirty="0">
                <a:solidFill>
                  <a:srgbClr val="383A42"/>
                </a:solidFill>
                <a:effectLst/>
              </a:rPr>
              <a:t>;</a:t>
            </a:r>
            <a:r>
              <a:rPr lang="en" altLang="zh-CN" sz="1200" dirty="0"/>
              <a:t> </a:t>
            </a:r>
          </a:p>
          <a:p>
            <a:r>
              <a:rPr lang="en" altLang="zh-CN" sz="1200" i="1" dirty="0">
                <a:solidFill>
                  <a:srgbClr val="A0A1A7"/>
                </a:solidFill>
                <a:effectLst/>
              </a:rPr>
              <a:t>// </a:t>
            </a:r>
            <a:r>
              <a:rPr lang="zh-CN" altLang="en-US" sz="1200" i="1" dirty="0">
                <a:solidFill>
                  <a:srgbClr val="A0A1A7"/>
                </a:solidFill>
                <a:effectLst/>
              </a:rPr>
              <a:t>卖单深度：从最低价开始累计</a:t>
            </a:r>
            <a:endParaRPr lang="en-US" altLang="zh-CN" sz="1200" i="1" dirty="0">
              <a:solidFill>
                <a:srgbClr val="A0A1A7"/>
              </a:solidFill>
              <a:effectLst/>
            </a:endParaRPr>
          </a:p>
          <a:p>
            <a:r>
              <a:rPr lang="zh-CN" altLang="en-US" sz="1200" i="1" dirty="0">
                <a:solidFill>
                  <a:srgbClr val="A0A1A7"/>
                </a:solidFill>
                <a:effectLst/>
              </a:rPr>
              <a:t> </a:t>
            </a:r>
            <a:r>
              <a:rPr lang="en" altLang="zh-CN" sz="1200" dirty="0" err="1">
                <a:solidFill>
                  <a:srgbClr val="B76B01"/>
                </a:solidFill>
                <a:effectLst/>
              </a:rPr>
              <a:t>TreeMap</a:t>
            </a:r>
            <a:r>
              <a:rPr lang="en" altLang="zh-CN" sz="1200" dirty="0">
                <a:solidFill>
                  <a:srgbClr val="383A42"/>
                </a:solidFill>
                <a:effectLst/>
              </a:rPr>
              <a:t>&lt;</a:t>
            </a:r>
            <a:r>
              <a:rPr lang="en" altLang="zh-CN" sz="1200" dirty="0" err="1">
                <a:solidFill>
                  <a:srgbClr val="B76B01"/>
                </a:solidFill>
                <a:effectLst/>
              </a:rPr>
              <a:t>BigDecimal</a:t>
            </a:r>
            <a:r>
              <a:rPr lang="en" altLang="zh-CN" sz="1200" dirty="0" err="1">
                <a:solidFill>
                  <a:srgbClr val="383A42"/>
                </a:solidFill>
                <a:effectLst/>
              </a:rPr>
              <a:t>,</a:t>
            </a:r>
            <a:r>
              <a:rPr lang="en" altLang="zh-CN" sz="1200" dirty="0" err="1">
                <a:solidFill>
                  <a:srgbClr val="B76B01"/>
                </a:solidFill>
                <a:effectLst/>
              </a:rPr>
              <a:t>MergeOrder</a:t>
            </a:r>
            <a:r>
              <a:rPr lang="en" altLang="zh-CN" sz="1200" dirty="0">
                <a:solidFill>
                  <a:srgbClr val="383A42"/>
                </a:solidFill>
                <a:effectLst/>
              </a:rPr>
              <a:t>&gt;</a:t>
            </a:r>
            <a:r>
              <a:rPr lang="en" altLang="zh-CN" sz="1200" dirty="0"/>
              <a:t> </a:t>
            </a:r>
            <a:r>
              <a:rPr lang="en" altLang="zh-CN" sz="1200" dirty="0" err="1"/>
              <a:t>sellQueue</a:t>
            </a:r>
            <a:r>
              <a:rPr lang="en" altLang="zh-CN" sz="1200" dirty="0"/>
              <a:t> </a:t>
            </a:r>
            <a:r>
              <a:rPr lang="en" altLang="zh-CN" sz="1200" dirty="0">
                <a:solidFill>
                  <a:srgbClr val="4078F2"/>
                </a:solidFill>
                <a:effectLst/>
              </a:rPr>
              <a:t>=</a:t>
            </a:r>
            <a:r>
              <a:rPr lang="en" altLang="zh-CN" sz="1200" dirty="0"/>
              <a:t> </a:t>
            </a:r>
            <a:r>
              <a:rPr lang="en" altLang="zh-CN" sz="1200" dirty="0" err="1"/>
              <a:t>sellLimitPriceQueue</a:t>
            </a:r>
            <a:r>
              <a:rPr lang="en" altLang="zh-CN" sz="1200" dirty="0">
                <a:solidFill>
                  <a:srgbClr val="383A42"/>
                </a:solidFill>
                <a:effectLst/>
              </a:rPr>
              <a:t>;</a:t>
            </a:r>
            <a:endParaRPr lang="en" altLang="zh-CN" sz="1200" dirty="0"/>
          </a:p>
          <a:p>
            <a:r>
              <a:rPr lang="zh-CN" altLang="en-US" sz="1200" b="1" dirty="0"/>
              <a:t>深度特点：</a:t>
            </a:r>
            <a:endParaRPr lang="zh-CN" alt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/>
              <a:t>价格层级</a:t>
            </a:r>
            <a:r>
              <a:rPr lang="zh-CN" altLang="en-US" sz="1200" dirty="0"/>
              <a:t>：每个价格水平的总订单量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/>
              <a:t>累计深度</a:t>
            </a:r>
            <a:r>
              <a:rPr lang="zh-CN" altLang="en-US" sz="1200" dirty="0"/>
              <a:t>：从最优价格到当前价格的累计订单量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/>
              <a:t>实时更新</a:t>
            </a:r>
            <a:r>
              <a:rPr lang="zh-CN" altLang="en-US" sz="1200" dirty="0"/>
              <a:t>：随订单变化动态调整</a:t>
            </a:r>
          </a:p>
        </p:txBody>
      </p:sp>
    </p:spTree>
    <p:extLst>
      <p:ext uri="{BB962C8B-B14F-4D97-AF65-F5344CB8AC3E}">
        <p14:creationId xmlns:p14="http://schemas.microsoft.com/office/powerpoint/2010/main" val="2234016287"/>
      </p:ext>
    </p:extLst>
  </p:cSld>
  <p:clrMapOvr>
    <a:masterClrMapping/>
  </p:clrMapOvr>
</p:sld>
</file>

<file path=ppt/theme/theme1.xml><?xml version="1.0" encoding="utf-8"?>
<a:theme xmlns:a="http://schemas.openxmlformats.org/drawingml/2006/main" name="PPT模板标准文件">
  <a:themeElements>
    <a:clrScheme name="爱设计图示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7FF"/>
      </a:accent1>
      <a:accent2>
        <a:srgbClr val="FF8100"/>
      </a:accent2>
      <a:accent3>
        <a:srgbClr val="7000FF"/>
      </a:accent3>
      <a:accent4>
        <a:srgbClr val="FF3966"/>
      </a:accent4>
      <a:accent5>
        <a:srgbClr val="1ACA81"/>
      </a:accent5>
      <a:accent6>
        <a:srgbClr val="F4BF2C"/>
      </a:accent6>
      <a:hlink>
        <a:srgbClr val="000000"/>
      </a:hlink>
      <a:folHlink>
        <a:srgbClr val="000000"/>
      </a:folHlink>
    </a:clrScheme>
    <a:fontScheme name="自定义 2">
      <a:majorFont>
        <a:latin typeface="OPPOSans H"/>
        <a:ea typeface="OPPOSans H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f2a8e0-037a-4544-bb36-323bf04245a4.source.default.zh-Hans" id="{1EB4B1B5-950E-BC4D-AACD-944F66C0D36C}" vid="{834A4C60-B1A9-EA45-8AA6-F3D7371D07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421</Words>
  <Application>Microsoft Macintosh PowerPoint</Application>
  <PresentationFormat>宽屏</PresentationFormat>
  <Paragraphs>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OPPOSans H</vt:lpstr>
      <vt:lpstr>OPPOSans L</vt:lpstr>
      <vt:lpstr>Arial</vt:lpstr>
      <vt:lpstr>PPT模板标准文件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au95mur</dc:creator>
  <cp:lastModifiedBy>au95mur</cp:lastModifiedBy>
  <cp:revision>37</cp:revision>
  <dcterms:created xsi:type="dcterms:W3CDTF">2025-06-21T00:11:42Z</dcterms:created>
  <dcterms:modified xsi:type="dcterms:W3CDTF">2025-06-21T10:08:48Z</dcterms:modified>
</cp:coreProperties>
</file>