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79" r:id="rId3"/>
    <p:sldId id="280" r:id="rId4"/>
    <p:sldId id="28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6327"/>
  </p:normalViewPr>
  <p:slideViewPr>
    <p:cSldViewPr snapToGrid="0" showGuides="1">
      <p:cViewPr varScale="1">
        <p:scale>
          <a:sx n="138" d="100"/>
          <a:sy n="138" d="100"/>
        </p:scale>
        <p:origin x="176" y="5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150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0005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周五PPT-1">
            <a:extLst>
              <a:ext uri="{FF2B5EF4-FFF2-40B4-BE49-F238E27FC236}">
                <a16:creationId xmlns:a16="http://schemas.microsoft.com/office/drawing/2014/main" id="{14DDE1D4-7FB7-9D6B-6F0E-7F6857F2CB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" t="9" r="156" b="88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" name="周五PPT-2">
            <a:extLst>
              <a:ext uri="{FF2B5EF4-FFF2-40B4-BE49-F238E27FC236}">
                <a16:creationId xmlns:a16="http://schemas.microsoft.com/office/drawing/2014/main" id="{590220E1-1E60-94A9-F09A-A0099D27B8EC}"/>
              </a:ext>
            </a:extLst>
          </p:cNvPr>
          <p:cNvGrpSpPr/>
          <p:nvPr/>
        </p:nvGrpSpPr>
        <p:grpSpPr>
          <a:xfrm>
            <a:off x="651034" y="404998"/>
            <a:ext cx="223679" cy="143861"/>
            <a:chOff x="10749120" y="871596"/>
            <a:chExt cx="223679" cy="143861"/>
          </a:xfrm>
        </p:grpSpPr>
        <p:cxnSp>
          <p:nvCxnSpPr>
            <p:cNvPr id="4" name="周五PPT-2-1">
              <a:extLst>
                <a:ext uri="{FF2B5EF4-FFF2-40B4-BE49-F238E27FC236}">
                  <a16:creationId xmlns:a16="http://schemas.microsoft.com/office/drawing/2014/main" id="{6D1B88E0-FF66-C150-6D4F-320077AC456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120" y="1015457"/>
              <a:ext cx="223679" cy="0"/>
            </a:xfrm>
            <a:prstGeom prst="straightConnector1">
              <a:avLst/>
            </a:prstGeom>
            <a:noFill/>
            <a:ln w="15875" cap="rnd" cmpd="sng" algn="ctr">
              <a:solidFill>
                <a:schemeClr val="tx1">
                  <a:lumMod val="75000"/>
                  <a:lumOff val="25000"/>
                  <a:alpha val="50000"/>
                </a:schemeClr>
              </a:solidFill>
              <a:prstDash val="solid"/>
              <a:round/>
            </a:ln>
            <a:effectLst/>
          </p:spPr>
        </p:cxnSp>
        <p:cxnSp>
          <p:nvCxnSpPr>
            <p:cNvPr id="5" name="周五PPT-2-2">
              <a:extLst>
                <a:ext uri="{FF2B5EF4-FFF2-40B4-BE49-F238E27FC236}">
                  <a16:creationId xmlns:a16="http://schemas.microsoft.com/office/drawing/2014/main" id="{4C1636B1-C549-57A6-B93F-C5F10092388D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120" y="943527"/>
              <a:ext cx="223679" cy="0"/>
            </a:xfrm>
            <a:prstGeom prst="straightConnector1">
              <a:avLst/>
            </a:prstGeom>
            <a:noFill/>
            <a:ln w="15875" cap="rnd" cmpd="sng" algn="ctr">
              <a:solidFill>
                <a:schemeClr val="accent1">
                  <a:alpha val="50000"/>
                </a:schemeClr>
              </a:solidFill>
              <a:prstDash val="solid"/>
              <a:round/>
            </a:ln>
            <a:effectLst/>
          </p:spPr>
        </p:cxnSp>
        <p:cxnSp>
          <p:nvCxnSpPr>
            <p:cNvPr id="6" name="周五PPT-2-3">
              <a:extLst>
                <a:ext uri="{FF2B5EF4-FFF2-40B4-BE49-F238E27FC236}">
                  <a16:creationId xmlns:a16="http://schemas.microsoft.com/office/drawing/2014/main" id="{699FC12F-7890-34DC-6715-44B5126BFD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120" y="871596"/>
              <a:ext cx="223679" cy="0"/>
            </a:xfrm>
            <a:prstGeom prst="straightConnector1">
              <a:avLst/>
            </a:prstGeom>
            <a:noFill/>
            <a:ln w="15875" cap="rnd" cmpd="sng" algn="ctr">
              <a:solidFill>
                <a:schemeClr val="tx1">
                  <a:lumMod val="75000"/>
                  <a:lumOff val="25000"/>
                  <a:alpha val="50000"/>
                </a:schemeClr>
              </a:solidFill>
              <a:prstDash val="solid"/>
              <a:round/>
            </a:ln>
            <a:effectLst/>
          </p:spPr>
        </p:cxnSp>
      </p:grpSp>
      <p:sp>
        <p:nvSpPr>
          <p:cNvPr id="34" name="周五PPT-5">
            <a:extLst>
              <a:ext uri="{FF2B5EF4-FFF2-40B4-BE49-F238E27FC236}">
                <a16:creationId xmlns:a16="http://schemas.microsoft.com/office/drawing/2014/main" id="{36B3AE8D-F2FE-7F48-2F80-57C5F3AF0B66}"/>
              </a:ext>
            </a:extLst>
          </p:cNvPr>
          <p:cNvSpPr txBox="1"/>
          <p:nvPr/>
        </p:nvSpPr>
        <p:spPr>
          <a:xfrm>
            <a:off x="4249499" y="1346398"/>
            <a:ext cx="366760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8100"/>
                    </a:gs>
                    <a:gs pos="73000">
                      <a:srgbClr val="FF8100">
                        <a:alpha val="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06</a:t>
            </a:r>
          </a:p>
        </p:txBody>
      </p:sp>
      <p:sp>
        <p:nvSpPr>
          <p:cNvPr id="35" name="周五PPT-6">
            <a:extLst>
              <a:ext uri="{FF2B5EF4-FFF2-40B4-BE49-F238E27FC236}">
                <a16:creationId xmlns:a16="http://schemas.microsoft.com/office/drawing/2014/main" id="{D6951DEF-A0B4-3B2C-7680-E611E277F33B}"/>
              </a:ext>
            </a:extLst>
          </p:cNvPr>
          <p:cNvSpPr txBox="1"/>
          <p:nvPr/>
        </p:nvSpPr>
        <p:spPr>
          <a:xfrm>
            <a:off x="2918361" y="2973189"/>
            <a:ext cx="63298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后端代码和服务分析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37" name="周五PPT-8">
            <a:extLst>
              <a:ext uri="{FF2B5EF4-FFF2-40B4-BE49-F238E27FC236}">
                <a16:creationId xmlns:a16="http://schemas.microsoft.com/office/drawing/2014/main" id="{4EF10ACB-F46F-AA74-4E27-940643D8EED2}"/>
              </a:ext>
            </a:extLst>
          </p:cNvPr>
          <p:cNvSpPr/>
          <p:nvPr/>
        </p:nvSpPr>
        <p:spPr>
          <a:xfrm>
            <a:off x="-1648562" y="3227741"/>
            <a:ext cx="3759901" cy="6639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/>
              <a:ea typeface="OPPOSans L"/>
              <a:cs typeface="+mn-cs"/>
            </a:endParaRPr>
          </a:p>
        </p:txBody>
      </p:sp>
      <p:sp>
        <p:nvSpPr>
          <p:cNvPr id="38" name="周五PPT-9">
            <a:extLst>
              <a:ext uri="{FF2B5EF4-FFF2-40B4-BE49-F238E27FC236}">
                <a16:creationId xmlns:a16="http://schemas.microsoft.com/office/drawing/2014/main" id="{B35ECD25-5181-7EED-BCB6-77A314EA01E3}"/>
              </a:ext>
            </a:extLst>
          </p:cNvPr>
          <p:cNvSpPr/>
          <p:nvPr/>
        </p:nvSpPr>
        <p:spPr>
          <a:xfrm>
            <a:off x="10055259" y="3227741"/>
            <a:ext cx="3759901" cy="6639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/>
              <a:ea typeface="OPPOSans 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556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1562-B081-92A4-0C0D-1E3DF7EB4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周五PPT-1">
            <a:extLst>
              <a:ext uri="{FF2B5EF4-FFF2-40B4-BE49-F238E27FC236}">
                <a16:creationId xmlns:a16="http://schemas.microsoft.com/office/drawing/2014/main" id="{1504C9B3-20F5-DE10-0C6D-6939C6C886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" t="9" r="156" b="88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4" name="周五PPT-2">
            <a:extLst>
              <a:ext uri="{FF2B5EF4-FFF2-40B4-BE49-F238E27FC236}">
                <a16:creationId xmlns:a16="http://schemas.microsoft.com/office/drawing/2014/main" id="{D7E1C812-3735-1F65-037A-1784E7164967}"/>
              </a:ext>
            </a:extLst>
          </p:cNvPr>
          <p:cNvGrpSpPr/>
          <p:nvPr/>
        </p:nvGrpSpPr>
        <p:grpSpPr>
          <a:xfrm>
            <a:off x="685961" y="382507"/>
            <a:ext cx="398687" cy="58550"/>
            <a:chOff x="419261" y="513811"/>
            <a:chExt cx="398687" cy="58550"/>
          </a:xfrm>
        </p:grpSpPr>
        <p:sp>
          <p:nvSpPr>
            <p:cNvPr id="5" name="周五PPT-2-1">
              <a:extLst>
                <a:ext uri="{FF2B5EF4-FFF2-40B4-BE49-F238E27FC236}">
                  <a16:creationId xmlns:a16="http://schemas.microsoft.com/office/drawing/2014/main" id="{37790A00-DAD6-9CA1-27CB-6D3E834DAC96}"/>
                </a:ext>
              </a:extLst>
            </p:cNvPr>
            <p:cNvSpPr/>
            <p:nvPr/>
          </p:nvSpPr>
          <p:spPr>
            <a:xfrm>
              <a:off x="759398" y="513811"/>
              <a:ext cx="58550" cy="5855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" name="周五PPT-2-2">
              <a:extLst>
                <a:ext uri="{FF2B5EF4-FFF2-40B4-BE49-F238E27FC236}">
                  <a16:creationId xmlns:a16="http://schemas.microsoft.com/office/drawing/2014/main" id="{BD844630-352B-04F0-4173-FA8D36DF0C86}"/>
                </a:ext>
              </a:extLst>
            </p:cNvPr>
            <p:cNvSpPr/>
            <p:nvPr/>
          </p:nvSpPr>
          <p:spPr>
            <a:xfrm>
              <a:off x="646019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" name="周五PPT-2-3">
              <a:extLst>
                <a:ext uri="{FF2B5EF4-FFF2-40B4-BE49-F238E27FC236}">
                  <a16:creationId xmlns:a16="http://schemas.microsoft.com/office/drawing/2014/main" id="{E77904CE-6915-9A39-1BFA-ABC42A1292E1}"/>
                </a:ext>
              </a:extLst>
            </p:cNvPr>
            <p:cNvSpPr/>
            <p:nvPr/>
          </p:nvSpPr>
          <p:spPr>
            <a:xfrm>
              <a:off x="532640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" name="周五PPT-2-4">
              <a:extLst>
                <a:ext uri="{FF2B5EF4-FFF2-40B4-BE49-F238E27FC236}">
                  <a16:creationId xmlns:a16="http://schemas.microsoft.com/office/drawing/2014/main" id="{2BCFAA20-6D0A-EC11-96EF-D210E622D4F6}"/>
                </a:ext>
              </a:extLst>
            </p:cNvPr>
            <p:cNvSpPr/>
            <p:nvPr/>
          </p:nvSpPr>
          <p:spPr>
            <a:xfrm>
              <a:off x="419261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0" name="周五PPT-3-1">
            <a:extLst>
              <a:ext uri="{FF2B5EF4-FFF2-40B4-BE49-F238E27FC236}">
                <a16:creationId xmlns:a16="http://schemas.microsoft.com/office/drawing/2014/main" id="{55EA3F23-EC72-F578-23CE-867F49EEAB66}"/>
              </a:ext>
            </a:extLst>
          </p:cNvPr>
          <p:cNvSpPr txBox="1"/>
          <p:nvPr/>
        </p:nvSpPr>
        <p:spPr>
          <a:xfrm>
            <a:off x="857890" y="508661"/>
            <a:ext cx="7242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POSans H"/>
                <a:ea typeface="OPPOSans H"/>
                <a:cs typeface="OPPOSans B" panose="00020600040101010101" pitchFamily="18" charset="-122"/>
                <a:sym typeface="OPPOSans B" panose="00020600040101010101" pitchFamily="18" charset="-122"/>
              </a:rPr>
              <a:t>系统结构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OPPOSans H"/>
              <a:ea typeface="OPPOSans H"/>
              <a:cs typeface="OPPOSans B" panose="00020600040101010101" pitchFamily="18" charset="-122"/>
              <a:sym typeface="OPPOSans B" panose="00020600040101010101" pitchFamily="18" charset="-122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1884EBE-42A1-0461-C393-4F5DBD663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150" y="1517650"/>
            <a:ext cx="10045700" cy="382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644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1562-B081-92A4-0C0D-1E3DF7EB4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周五PPT-1">
            <a:extLst>
              <a:ext uri="{FF2B5EF4-FFF2-40B4-BE49-F238E27FC236}">
                <a16:creationId xmlns:a16="http://schemas.microsoft.com/office/drawing/2014/main" id="{1504C9B3-20F5-DE10-0C6D-6939C6C886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" t="9" r="156" b="88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4" name="周五PPT-2">
            <a:extLst>
              <a:ext uri="{FF2B5EF4-FFF2-40B4-BE49-F238E27FC236}">
                <a16:creationId xmlns:a16="http://schemas.microsoft.com/office/drawing/2014/main" id="{D7E1C812-3735-1F65-037A-1784E7164967}"/>
              </a:ext>
            </a:extLst>
          </p:cNvPr>
          <p:cNvGrpSpPr/>
          <p:nvPr/>
        </p:nvGrpSpPr>
        <p:grpSpPr>
          <a:xfrm>
            <a:off x="685961" y="382507"/>
            <a:ext cx="398687" cy="58550"/>
            <a:chOff x="419261" y="513811"/>
            <a:chExt cx="398687" cy="58550"/>
          </a:xfrm>
        </p:grpSpPr>
        <p:sp>
          <p:nvSpPr>
            <p:cNvPr id="5" name="周五PPT-2-1">
              <a:extLst>
                <a:ext uri="{FF2B5EF4-FFF2-40B4-BE49-F238E27FC236}">
                  <a16:creationId xmlns:a16="http://schemas.microsoft.com/office/drawing/2014/main" id="{37790A00-DAD6-9CA1-27CB-6D3E834DAC96}"/>
                </a:ext>
              </a:extLst>
            </p:cNvPr>
            <p:cNvSpPr/>
            <p:nvPr/>
          </p:nvSpPr>
          <p:spPr>
            <a:xfrm>
              <a:off x="759398" y="513811"/>
              <a:ext cx="58550" cy="5855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" name="周五PPT-2-2">
              <a:extLst>
                <a:ext uri="{FF2B5EF4-FFF2-40B4-BE49-F238E27FC236}">
                  <a16:creationId xmlns:a16="http://schemas.microsoft.com/office/drawing/2014/main" id="{BD844630-352B-04F0-4173-FA8D36DF0C86}"/>
                </a:ext>
              </a:extLst>
            </p:cNvPr>
            <p:cNvSpPr/>
            <p:nvPr/>
          </p:nvSpPr>
          <p:spPr>
            <a:xfrm>
              <a:off x="646019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" name="周五PPT-2-3">
              <a:extLst>
                <a:ext uri="{FF2B5EF4-FFF2-40B4-BE49-F238E27FC236}">
                  <a16:creationId xmlns:a16="http://schemas.microsoft.com/office/drawing/2014/main" id="{E77904CE-6915-9A39-1BFA-ABC42A1292E1}"/>
                </a:ext>
              </a:extLst>
            </p:cNvPr>
            <p:cNvSpPr/>
            <p:nvPr/>
          </p:nvSpPr>
          <p:spPr>
            <a:xfrm>
              <a:off x="532640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" name="周五PPT-2-4">
              <a:extLst>
                <a:ext uri="{FF2B5EF4-FFF2-40B4-BE49-F238E27FC236}">
                  <a16:creationId xmlns:a16="http://schemas.microsoft.com/office/drawing/2014/main" id="{2BCFAA20-6D0A-EC11-96EF-D210E622D4F6}"/>
                </a:ext>
              </a:extLst>
            </p:cNvPr>
            <p:cNvSpPr/>
            <p:nvPr/>
          </p:nvSpPr>
          <p:spPr>
            <a:xfrm>
              <a:off x="419261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0" name="周五PPT-3-1">
            <a:extLst>
              <a:ext uri="{FF2B5EF4-FFF2-40B4-BE49-F238E27FC236}">
                <a16:creationId xmlns:a16="http://schemas.microsoft.com/office/drawing/2014/main" id="{55EA3F23-EC72-F578-23CE-867F49EEAB66}"/>
              </a:ext>
            </a:extLst>
          </p:cNvPr>
          <p:cNvSpPr txBox="1"/>
          <p:nvPr/>
        </p:nvSpPr>
        <p:spPr>
          <a:xfrm>
            <a:off x="857890" y="508661"/>
            <a:ext cx="7242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POSans H"/>
                <a:ea typeface="OPPOSans H"/>
                <a:cs typeface="OPPOSans B" panose="00020600040101010101" pitchFamily="18" charset="-122"/>
                <a:sym typeface="OPPOSans B" panose="00020600040101010101" pitchFamily="18" charset="-122"/>
              </a:rPr>
              <a:t>系统结构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OPPOSans H"/>
              <a:ea typeface="OPPOSans H"/>
              <a:cs typeface="OPPOSans B" panose="00020600040101010101" pitchFamily="18" charset="-122"/>
              <a:sym typeface="OPPOSans B" panose="00020600040101010101" pitchFamily="18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386F63-3DCA-F7C8-6F0E-1BCDED6BC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084" y="1264508"/>
            <a:ext cx="5866444" cy="223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448C457-5AC2-1ABD-4240-92F0728BCB4B}"/>
              </a:ext>
            </a:extLst>
          </p:cNvPr>
          <p:cNvSpPr txBox="1"/>
          <p:nvPr/>
        </p:nvSpPr>
        <p:spPr>
          <a:xfrm>
            <a:off x="1163782" y="3729497"/>
            <a:ext cx="604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Market</a:t>
            </a:r>
            <a:r>
              <a:rPr kumimoji="1" lang="zh-CN" altLang="en-US" dirty="0"/>
              <a:t> 行情服务</a:t>
            </a:r>
            <a:r>
              <a:rPr kumimoji="1" lang="en-US" altLang="zh-CN" dirty="0"/>
              <a:t>: </a:t>
            </a:r>
            <a:r>
              <a:rPr kumimoji="1" lang="zh-CN" altLang="en-US" dirty="0"/>
              <a:t>聚合交易价格，并提供</a:t>
            </a:r>
            <a:r>
              <a:rPr kumimoji="1" lang="en-US" altLang="zh-CN" dirty="0"/>
              <a:t>K</a:t>
            </a:r>
            <a:r>
              <a:rPr kumimoji="1" lang="zh-CN" altLang="en-US" dirty="0"/>
              <a:t>线服务给前端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6C4013-CFC1-9784-0000-9722062398E3}"/>
              </a:ext>
            </a:extLst>
          </p:cNvPr>
          <p:cNvSpPr txBox="1"/>
          <p:nvPr/>
        </p:nvSpPr>
        <p:spPr>
          <a:xfrm>
            <a:off x="1163782" y="4098829"/>
            <a:ext cx="4322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ExchangeApi</a:t>
            </a:r>
            <a:r>
              <a:rPr kumimoji="1" lang="zh-CN" altLang="en-US" dirty="0"/>
              <a:t> 委托交易服务</a:t>
            </a:r>
            <a:r>
              <a:rPr kumimoji="1" lang="en-US" altLang="zh-CN" dirty="0"/>
              <a:t>: </a:t>
            </a:r>
            <a:r>
              <a:rPr kumimoji="1" lang="zh-CN" altLang="en-US" dirty="0"/>
              <a:t>交易请求入口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87E8CCE-331C-A65F-6E6A-522723EAEA1B}"/>
              </a:ext>
            </a:extLst>
          </p:cNvPr>
          <p:cNvSpPr txBox="1"/>
          <p:nvPr/>
        </p:nvSpPr>
        <p:spPr>
          <a:xfrm>
            <a:off x="1163782" y="4537335"/>
            <a:ext cx="4322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Exchange</a:t>
            </a:r>
            <a:r>
              <a:rPr kumimoji="1" lang="zh-CN" altLang="en-US" dirty="0"/>
              <a:t> 撮合引擎服务：交易核心逻辑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079DB41-2066-8747-5FE0-B64B5C863DD9}"/>
              </a:ext>
            </a:extLst>
          </p:cNvPr>
          <p:cNvSpPr txBox="1"/>
          <p:nvPr/>
        </p:nvSpPr>
        <p:spPr>
          <a:xfrm>
            <a:off x="1163782" y="4992769"/>
            <a:ext cx="6761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UcCenter</a:t>
            </a:r>
            <a:r>
              <a:rPr kumimoji="1" lang="zh-CN" altLang="en-US" dirty="0"/>
              <a:t> 用户信息服务：用户个人信息和注册信息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DB04698-8BE1-261C-72D7-6BC421E02134}"/>
              </a:ext>
            </a:extLst>
          </p:cNvPr>
          <p:cNvSpPr txBox="1"/>
          <p:nvPr/>
        </p:nvSpPr>
        <p:spPr>
          <a:xfrm>
            <a:off x="1163782" y="5480946"/>
            <a:ext cx="6761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Cloud</a:t>
            </a:r>
            <a:r>
              <a:rPr kumimoji="1" lang="zh-CN" altLang="en-US" dirty="0"/>
              <a:t> 微服务注册：服务注册中心</a:t>
            </a:r>
          </a:p>
        </p:txBody>
      </p:sp>
    </p:spTree>
    <p:extLst>
      <p:ext uri="{BB962C8B-B14F-4D97-AF65-F5344CB8AC3E}">
        <p14:creationId xmlns:p14="http://schemas.microsoft.com/office/powerpoint/2010/main" val="2979544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1562-B081-92A4-0C0D-1E3DF7EB4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周五PPT-1">
            <a:extLst>
              <a:ext uri="{FF2B5EF4-FFF2-40B4-BE49-F238E27FC236}">
                <a16:creationId xmlns:a16="http://schemas.microsoft.com/office/drawing/2014/main" id="{1504C9B3-20F5-DE10-0C6D-6939C6C886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" t="9" r="156" b="88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4" name="周五PPT-2">
            <a:extLst>
              <a:ext uri="{FF2B5EF4-FFF2-40B4-BE49-F238E27FC236}">
                <a16:creationId xmlns:a16="http://schemas.microsoft.com/office/drawing/2014/main" id="{D7E1C812-3735-1F65-037A-1784E7164967}"/>
              </a:ext>
            </a:extLst>
          </p:cNvPr>
          <p:cNvGrpSpPr/>
          <p:nvPr/>
        </p:nvGrpSpPr>
        <p:grpSpPr>
          <a:xfrm>
            <a:off x="685961" y="382507"/>
            <a:ext cx="398687" cy="58550"/>
            <a:chOff x="419261" y="513811"/>
            <a:chExt cx="398687" cy="58550"/>
          </a:xfrm>
        </p:grpSpPr>
        <p:sp>
          <p:nvSpPr>
            <p:cNvPr id="5" name="周五PPT-2-1">
              <a:extLst>
                <a:ext uri="{FF2B5EF4-FFF2-40B4-BE49-F238E27FC236}">
                  <a16:creationId xmlns:a16="http://schemas.microsoft.com/office/drawing/2014/main" id="{37790A00-DAD6-9CA1-27CB-6D3E834DAC96}"/>
                </a:ext>
              </a:extLst>
            </p:cNvPr>
            <p:cNvSpPr/>
            <p:nvPr/>
          </p:nvSpPr>
          <p:spPr>
            <a:xfrm>
              <a:off x="759398" y="513811"/>
              <a:ext cx="58550" cy="5855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" name="周五PPT-2-2">
              <a:extLst>
                <a:ext uri="{FF2B5EF4-FFF2-40B4-BE49-F238E27FC236}">
                  <a16:creationId xmlns:a16="http://schemas.microsoft.com/office/drawing/2014/main" id="{BD844630-352B-04F0-4173-FA8D36DF0C86}"/>
                </a:ext>
              </a:extLst>
            </p:cNvPr>
            <p:cNvSpPr/>
            <p:nvPr/>
          </p:nvSpPr>
          <p:spPr>
            <a:xfrm>
              <a:off x="646019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" name="周五PPT-2-3">
              <a:extLst>
                <a:ext uri="{FF2B5EF4-FFF2-40B4-BE49-F238E27FC236}">
                  <a16:creationId xmlns:a16="http://schemas.microsoft.com/office/drawing/2014/main" id="{E77904CE-6915-9A39-1BFA-ABC42A1292E1}"/>
                </a:ext>
              </a:extLst>
            </p:cNvPr>
            <p:cNvSpPr/>
            <p:nvPr/>
          </p:nvSpPr>
          <p:spPr>
            <a:xfrm>
              <a:off x="532640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" name="周五PPT-2-4">
              <a:extLst>
                <a:ext uri="{FF2B5EF4-FFF2-40B4-BE49-F238E27FC236}">
                  <a16:creationId xmlns:a16="http://schemas.microsoft.com/office/drawing/2014/main" id="{2BCFAA20-6D0A-EC11-96EF-D210E622D4F6}"/>
                </a:ext>
              </a:extLst>
            </p:cNvPr>
            <p:cNvSpPr/>
            <p:nvPr/>
          </p:nvSpPr>
          <p:spPr>
            <a:xfrm>
              <a:off x="419261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0" name="周五PPT-3-1">
            <a:extLst>
              <a:ext uri="{FF2B5EF4-FFF2-40B4-BE49-F238E27FC236}">
                <a16:creationId xmlns:a16="http://schemas.microsoft.com/office/drawing/2014/main" id="{55EA3F23-EC72-F578-23CE-867F49EEAB66}"/>
              </a:ext>
            </a:extLst>
          </p:cNvPr>
          <p:cNvSpPr txBox="1"/>
          <p:nvPr/>
        </p:nvSpPr>
        <p:spPr>
          <a:xfrm>
            <a:off x="857890" y="508661"/>
            <a:ext cx="7242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POSans H"/>
                <a:ea typeface="OPPOSans H"/>
                <a:cs typeface="OPPOSans B" panose="00020600040101010101" pitchFamily="18" charset="-122"/>
                <a:sym typeface="OPPOSans B" panose="00020600040101010101" pitchFamily="18" charset="-122"/>
              </a:rPr>
              <a:t>服务分析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OPPOSans H"/>
              <a:ea typeface="OPPOSans H"/>
              <a:cs typeface="OPPOSans B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C54AA09-50BC-81F1-D3F7-AC075D364A0C}"/>
              </a:ext>
            </a:extLst>
          </p:cNvPr>
          <p:cNvSpPr/>
          <p:nvPr/>
        </p:nvSpPr>
        <p:spPr>
          <a:xfrm>
            <a:off x="4085214" y="2819400"/>
            <a:ext cx="1630843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ExchangeApi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3C5D626-3334-9E8D-871C-0DF754FB0DEF}"/>
              </a:ext>
            </a:extLst>
          </p:cNvPr>
          <p:cNvSpPr/>
          <p:nvPr/>
        </p:nvSpPr>
        <p:spPr>
          <a:xfrm>
            <a:off x="6916785" y="2819400"/>
            <a:ext cx="1630843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Exchange</a:t>
            </a:r>
            <a:endParaRPr kumimoji="1"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EC73792-CDD2-137E-03D5-5F663E10AAB5}"/>
              </a:ext>
            </a:extLst>
          </p:cNvPr>
          <p:cNvSpPr/>
          <p:nvPr/>
        </p:nvSpPr>
        <p:spPr>
          <a:xfrm>
            <a:off x="9194174" y="2819400"/>
            <a:ext cx="1630843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Market</a:t>
            </a:r>
            <a:endParaRPr kumimoji="1"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A76B17-0EB8-8822-1A39-557ACB9B1412}"/>
              </a:ext>
            </a:extLst>
          </p:cNvPr>
          <p:cNvSpPr/>
          <p:nvPr/>
        </p:nvSpPr>
        <p:spPr>
          <a:xfrm>
            <a:off x="1541106" y="2819400"/>
            <a:ext cx="1630843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UcCenterApi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176647B-35B2-E5DB-9B2E-3BBDBB8B9B5D}"/>
              </a:ext>
            </a:extLst>
          </p:cNvPr>
          <p:cNvSpPr txBox="1"/>
          <p:nvPr/>
        </p:nvSpPr>
        <p:spPr>
          <a:xfrm>
            <a:off x="1880274" y="3853934"/>
            <a:ext cx="952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b="0" i="0" dirty="0" err="1">
                <a:solidFill>
                  <a:srgbClr val="212121"/>
                </a:solidFill>
                <a:effectLst/>
                <a:latin typeface="Inter"/>
              </a:rPr>
              <a:t>uc</a:t>
            </a:r>
            <a:r>
              <a:rPr lang="en" altLang="zh-CN" b="0" i="0" dirty="0">
                <a:solidFill>
                  <a:srgbClr val="212121"/>
                </a:solidFill>
                <a:effectLst/>
                <a:latin typeface="Inter"/>
              </a:rPr>
              <a:t>/login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0E5AA59-D9E3-4B69-EC2E-6CAB24AB583C}"/>
              </a:ext>
            </a:extLst>
          </p:cNvPr>
          <p:cNvSpPr txBox="1"/>
          <p:nvPr/>
        </p:nvSpPr>
        <p:spPr>
          <a:xfrm>
            <a:off x="1543560" y="3429000"/>
            <a:ext cx="1629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800" dirty="0" err="1">
                <a:effectLst/>
                <a:latin typeface="JetBrains Mono"/>
              </a:rPr>
              <a:t>LoginController</a:t>
            </a:r>
            <a:endParaRPr lang="en" altLang="zh-CN" sz="1800" dirty="0">
              <a:effectLst/>
              <a:latin typeface="JetBrains Mono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752539F-6747-85A1-4019-87F6ED51870C}"/>
              </a:ext>
            </a:extLst>
          </p:cNvPr>
          <p:cNvSpPr txBox="1"/>
          <p:nvPr/>
        </p:nvSpPr>
        <p:spPr>
          <a:xfrm>
            <a:off x="3847012" y="3853934"/>
            <a:ext cx="2107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b="0" i="0" dirty="0">
                <a:solidFill>
                  <a:srgbClr val="212121"/>
                </a:solidFill>
                <a:effectLst/>
                <a:latin typeface="Inter"/>
              </a:rPr>
              <a:t>exchange/order/add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C5952CA-4B72-762E-9016-D5E8E9AE65C8}"/>
              </a:ext>
            </a:extLst>
          </p:cNvPr>
          <p:cNvSpPr txBox="1"/>
          <p:nvPr/>
        </p:nvSpPr>
        <p:spPr>
          <a:xfrm>
            <a:off x="3623714" y="3468530"/>
            <a:ext cx="2553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800" dirty="0" err="1">
                <a:effectLst/>
                <a:latin typeface="JetBrains Mono"/>
              </a:rPr>
              <a:t>ExchangeOrderController</a:t>
            </a:r>
            <a:endParaRPr lang="en" altLang="zh-CN" sz="1800" dirty="0">
              <a:effectLst/>
              <a:latin typeface="JetBrains Mono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F0AD591-6C48-7E6C-C437-4EDC36EA7EC5}"/>
              </a:ext>
            </a:extLst>
          </p:cNvPr>
          <p:cNvSpPr txBox="1"/>
          <p:nvPr/>
        </p:nvSpPr>
        <p:spPr>
          <a:xfrm>
            <a:off x="3847012" y="4068618"/>
            <a:ext cx="24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b="0" i="0" dirty="0">
                <a:solidFill>
                  <a:srgbClr val="212121"/>
                </a:solidFill>
                <a:effectLst/>
                <a:latin typeface="Inter"/>
              </a:rPr>
              <a:t>exchange/order/history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BA13CB5-6EB0-6864-60CD-35B37C4A2002}"/>
              </a:ext>
            </a:extLst>
          </p:cNvPr>
          <p:cNvSpPr txBox="1"/>
          <p:nvPr/>
        </p:nvSpPr>
        <p:spPr>
          <a:xfrm>
            <a:off x="6796823" y="3484602"/>
            <a:ext cx="1895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800" dirty="0" err="1">
                <a:effectLst/>
                <a:latin typeface="JetBrains Mono"/>
              </a:rPr>
              <a:t>CoinTraderFactory</a:t>
            </a:r>
            <a:endParaRPr lang="en" altLang="zh-CN" sz="1800" dirty="0">
              <a:effectLst/>
              <a:latin typeface="JetBrains Mono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75EEE7B-1100-6D9A-BC8E-67AE903D92EB}"/>
              </a:ext>
            </a:extLst>
          </p:cNvPr>
          <p:cNvSpPr txBox="1"/>
          <p:nvPr/>
        </p:nvSpPr>
        <p:spPr>
          <a:xfrm>
            <a:off x="6796823" y="3837862"/>
            <a:ext cx="120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800" dirty="0" err="1">
                <a:effectLst/>
                <a:latin typeface="JetBrains Mono"/>
              </a:rPr>
              <a:t>CoinTrader</a:t>
            </a:r>
            <a:endParaRPr lang="en" altLang="zh-CN" sz="1800" dirty="0">
              <a:effectLst/>
              <a:latin typeface="JetBrains Mono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0EC25EC-9363-D969-E2A1-09E4BCBF0590}"/>
              </a:ext>
            </a:extLst>
          </p:cNvPr>
          <p:cNvSpPr txBox="1"/>
          <p:nvPr/>
        </p:nvSpPr>
        <p:spPr>
          <a:xfrm>
            <a:off x="9087977" y="3484602"/>
            <a:ext cx="1802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800" dirty="0" err="1">
                <a:effectLst/>
                <a:latin typeface="JetBrains Mono"/>
              </a:rPr>
              <a:t>MarketController</a:t>
            </a:r>
            <a:endParaRPr lang="en" altLang="zh-CN" sz="1800" dirty="0">
              <a:effectLst/>
              <a:latin typeface="JetBrains Mono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AC50CF5-A6B1-2814-DA48-200EA597B342}"/>
              </a:ext>
            </a:extLst>
          </p:cNvPr>
          <p:cNvSpPr txBox="1"/>
          <p:nvPr/>
        </p:nvSpPr>
        <p:spPr>
          <a:xfrm>
            <a:off x="9041509" y="3858705"/>
            <a:ext cx="1603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b="0" i="0" dirty="0">
                <a:solidFill>
                  <a:srgbClr val="212121"/>
                </a:solidFill>
                <a:effectLst/>
                <a:latin typeface="Inter"/>
              </a:rPr>
              <a:t>market/symbol</a:t>
            </a:r>
            <a:endParaRPr kumimoji="1"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3C22887-E68C-1932-048A-5E8DCDE924D5}"/>
              </a:ext>
            </a:extLst>
          </p:cNvPr>
          <p:cNvSpPr txBox="1"/>
          <p:nvPr/>
        </p:nvSpPr>
        <p:spPr>
          <a:xfrm>
            <a:off x="9087977" y="4189983"/>
            <a:ext cx="2301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b="0" i="0" dirty="0">
                <a:solidFill>
                  <a:srgbClr val="212121"/>
                </a:solidFill>
                <a:effectLst/>
                <a:latin typeface="Inter"/>
              </a:rPr>
              <a:t>market/symbol-thumb</a:t>
            </a:r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A1E15B7-FBD7-3722-125F-F8F5F54B4349}"/>
              </a:ext>
            </a:extLst>
          </p:cNvPr>
          <p:cNvSpPr txBox="1"/>
          <p:nvPr/>
        </p:nvSpPr>
        <p:spPr>
          <a:xfrm>
            <a:off x="9087976" y="4521261"/>
            <a:ext cx="2035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b="0" i="0" dirty="0">
                <a:solidFill>
                  <a:srgbClr val="212121"/>
                </a:solidFill>
                <a:effectLst/>
                <a:latin typeface="Inter"/>
              </a:rPr>
              <a:t>market/symbol-info</a:t>
            </a:r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801422A-527D-ACFE-411F-2B26104A92F9}"/>
              </a:ext>
            </a:extLst>
          </p:cNvPr>
          <p:cNvSpPr txBox="1"/>
          <p:nvPr/>
        </p:nvSpPr>
        <p:spPr>
          <a:xfrm>
            <a:off x="9082081" y="4867456"/>
            <a:ext cx="2840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b="0" i="0" dirty="0">
                <a:solidFill>
                  <a:srgbClr val="212121"/>
                </a:solidFill>
                <a:effectLst/>
                <a:latin typeface="Inter"/>
              </a:rPr>
              <a:t>market/exchange-plate-mini</a:t>
            </a:r>
            <a:endParaRPr kumimoji="1"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63C0A42-5CF7-68DC-9CC5-F969C97CB2DD}"/>
              </a:ext>
            </a:extLst>
          </p:cNvPr>
          <p:cNvSpPr txBox="1"/>
          <p:nvPr/>
        </p:nvSpPr>
        <p:spPr>
          <a:xfrm>
            <a:off x="9130437" y="5491478"/>
            <a:ext cx="2016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b="0" i="0" dirty="0">
                <a:solidFill>
                  <a:srgbClr val="212121"/>
                </a:solidFill>
                <a:effectLst/>
                <a:latin typeface="Inter"/>
              </a:rPr>
              <a:t>market/latest-trade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F1207D3-B0AB-B0FE-6C8B-4C696AAA6A4E}"/>
              </a:ext>
            </a:extLst>
          </p:cNvPr>
          <p:cNvSpPr txBox="1"/>
          <p:nvPr/>
        </p:nvSpPr>
        <p:spPr>
          <a:xfrm>
            <a:off x="9087976" y="5169592"/>
            <a:ext cx="2724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b="0" i="0" dirty="0">
                <a:solidFill>
                  <a:srgbClr val="212121"/>
                </a:solidFill>
                <a:effectLst/>
                <a:latin typeface="Inter"/>
              </a:rPr>
              <a:t>market/exchange-plate-full</a:t>
            </a:r>
            <a:endParaRPr kumimoji="1" lang="zh-CN" altLang="en-US" dirty="0"/>
          </a:p>
        </p:txBody>
      </p:sp>
      <p:sp>
        <p:nvSpPr>
          <p:cNvPr id="33" name="右箭头 32">
            <a:extLst>
              <a:ext uri="{FF2B5EF4-FFF2-40B4-BE49-F238E27FC236}">
                <a16:creationId xmlns:a16="http://schemas.microsoft.com/office/drawing/2014/main" id="{6E3823D0-DCFA-2E42-2F1E-D35AF1D722D5}"/>
              </a:ext>
            </a:extLst>
          </p:cNvPr>
          <p:cNvSpPr/>
          <p:nvPr/>
        </p:nvSpPr>
        <p:spPr>
          <a:xfrm>
            <a:off x="3388937" y="2971059"/>
            <a:ext cx="466503" cy="3312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右箭头 33">
            <a:extLst>
              <a:ext uri="{FF2B5EF4-FFF2-40B4-BE49-F238E27FC236}">
                <a16:creationId xmlns:a16="http://schemas.microsoft.com/office/drawing/2014/main" id="{70704E3A-908F-3AB4-BCA3-2C3244DCAEB9}"/>
              </a:ext>
            </a:extLst>
          </p:cNvPr>
          <p:cNvSpPr/>
          <p:nvPr/>
        </p:nvSpPr>
        <p:spPr>
          <a:xfrm>
            <a:off x="6036987" y="2969362"/>
            <a:ext cx="466503" cy="3312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右箭头 34">
            <a:extLst>
              <a:ext uri="{FF2B5EF4-FFF2-40B4-BE49-F238E27FC236}">
                <a16:creationId xmlns:a16="http://schemas.microsoft.com/office/drawing/2014/main" id="{EE7DBA8C-1B6D-5A17-F022-C167D2EFCBCF}"/>
              </a:ext>
            </a:extLst>
          </p:cNvPr>
          <p:cNvSpPr/>
          <p:nvPr/>
        </p:nvSpPr>
        <p:spPr>
          <a:xfrm>
            <a:off x="8663934" y="2958561"/>
            <a:ext cx="466503" cy="3312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7C7154A-672F-97FF-79E4-89A3DAB9F48F}"/>
              </a:ext>
            </a:extLst>
          </p:cNvPr>
          <p:cNvSpPr/>
          <p:nvPr/>
        </p:nvSpPr>
        <p:spPr>
          <a:xfrm>
            <a:off x="1541106" y="1478987"/>
            <a:ext cx="9348903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Frontend </a:t>
            </a:r>
            <a:r>
              <a:rPr kumimoji="1" lang="en-US" altLang="zh-CN" dirty="0"/>
              <a:t>Service</a:t>
            </a:r>
            <a:endParaRPr kumimoji="1" lang="zh-CN" altLang="en-US" dirty="0"/>
          </a:p>
        </p:txBody>
      </p:sp>
      <p:sp>
        <p:nvSpPr>
          <p:cNvPr id="37" name="右箭头 36">
            <a:extLst>
              <a:ext uri="{FF2B5EF4-FFF2-40B4-BE49-F238E27FC236}">
                <a16:creationId xmlns:a16="http://schemas.microsoft.com/office/drawing/2014/main" id="{B6DEE927-0E6D-94C5-C24B-822F11BAC558}"/>
              </a:ext>
            </a:extLst>
          </p:cNvPr>
          <p:cNvSpPr/>
          <p:nvPr/>
        </p:nvSpPr>
        <p:spPr>
          <a:xfrm rot="5400000">
            <a:off x="2161092" y="2223354"/>
            <a:ext cx="390867" cy="5587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7D9A6BA-0B22-9716-57A3-0FC512ED038F}"/>
              </a:ext>
            </a:extLst>
          </p:cNvPr>
          <p:cNvSpPr txBox="1"/>
          <p:nvPr/>
        </p:nvSpPr>
        <p:spPr>
          <a:xfrm>
            <a:off x="793271" y="2187792"/>
            <a:ext cx="1810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登陆注册</a:t>
            </a:r>
          </a:p>
        </p:txBody>
      </p:sp>
      <p:sp>
        <p:nvSpPr>
          <p:cNvPr id="39" name="右箭头 38">
            <a:extLst>
              <a:ext uri="{FF2B5EF4-FFF2-40B4-BE49-F238E27FC236}">
                <a16:creationId xmlns:a16="http://schemas.microsoft.com/office/drawing/2014/main" id="{5D24E634-980D-D8DE-8517-68A3336E0432}"/>
              </a:ext>
            </a:extLst>
          </p:cNvPr>
          <p:cNvSpPr/>
          <p:nvPr/>
        </p:nvSpPr>
        <p:spPr>
          <a:xfrm rot="16200000">
            <a:off x="9763651" y="2170337"/>
            <a:ext cx="390867" cy="5587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DB48416-F496-6736-3BCC-0E9E12DE1C94}"/>
              </a:ext>
            </a:extLst>
          </p:cNvPr>
          <p:cNvSpPr txBox="1"/>
          <p:nvPr/>
        </p:nvSpPr>
        <p:spPr>
          <a:xfrm>
            <a:off x="10217921" y="2338816"/>
            <a:ext cx="1810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价格</a:t>
            </a:r>
            <a:r>
              <a:rPr kumimoji="1" lang="en-US" altLang="zh-CN" dirty="0"/>
              <a:t>/</a:t>
            </a:r>
            <a:r>
              <a:rPr kumimoji="1" lang="zh-CN" altLang="en-US" dirty="0"/>
              <a:t>币种</a:t>
            </a:r>
            <a:r>
              <a:rPr kumimoji="1" lang="en-US" altLang="zh-CN" dirty="0"/>
              <a:t>/K</a:t>
            </a:r>
            <a:r>
              <a:rPr kumimoji="1" lang="zh-CN" altLang="en-US" dirty="0"/>
              <a:t>线</a:t>
            </a:r>
          </a:p>
        </p:txBody>
      </p:sp>
      <p:sp>
        <p:nvSpPr>
          <p:cNvPr id="41" name="右箭头 40">
            <a:extLst>
              <a:ext uri="{FF2B5EF4-FFF2-40B4-BE49-F238E27FC236}">
                <a16:creationId xmlns:a16="http://schemas.microsoft.com/office/drawing/2014/main" id="{AA04EAB6-915E-D472-163A-DD49A03E07BF}"/>
              </a:ext>
            </a:extLst>
          </p:cNvPr>
          <p:cNvSpPr/>
          <p:nvPr/>
        </p:nvSpPr>
        <p:spPr>
          <a:xfrm>
            <a:off x="1084648" y="5876207"/>
            <a:ext cx="10304344" cy="359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Kafka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1617195"/>
      </p:ext>
    </p:extLst>
  </p:cSld>
  <p:clrMapOvr>
    <a:masterClrMapping/>
  </p:clrMapOvr>
</p:sld>
</file>

<file path=ppt/theme/theme1.xml><?xml version="1.0" encoding="utf-8"?>
<a:theme xmlns:a="http://schemas.openxmlformats.org/drawingml/2006/main" name="PPT模板标准文件">
  <a:themeElements>
    <a:clrScheme name="爱设计图示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7FF"/>
      </a:accent1>
      <a:accent2>
        <a:srgbClr val="FF8100"/>
      </a:accent2>
      <a:accent3>
        <a:srgbClr val="7000FF"/>
      </a:accent3>
      <a:accent4>
        <a:srgbClr val="FF3966"/>
      </a:accent4>
      <a:accent5>
        <a:srgbClr val="1ACA81"/>
      </a:accent5>
      <a:accent6>
        <a:srgbClr val="F4BF2C"/>
      </a:accent6>
      <a:hlink>
        <a:srgbClr val="000000"/>
      </a:hlink>
      <a:folHlink>
        <a:srgbClr val="000000"/>
      </a:folHlink>
    </a:clrScheme>
    <a:fontScheme name="自定义 2">
      <a:majorFont>
        <a:latin typeface="OPPOSans H"/>
        <a:ea typeface="OPPOSans H"/>
        <a:cs typeface=""/>
      </a:majorFont>
      <a:minorFont>
        <a:latin typeface="OPPOSans L"/>
        <a:ea typeface="OPPOSans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ef2a8e0-037a-4544-bb36-323bf04245a4.source.default.zh-Hans" id="{1EB4B1B5-950E-BC4D-AACD-944F66C0D36C}" vid="{834A4C60-B1A9-EA45-8AA6-F3D7371D079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114</Words>
  <Application>Microsoft Macintosh PowerPoint</Application>
  <PresentationFormat>宽屏</PresentationFormat>
  <Paragraphs>32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Inter</vt:lpstr>
      <vt:lpstr>JetBrains Mono</vt:lpstr>
      <vt:lpstr>OPPOSans H</vt:lpstr>
      <vt:lpstr>OPPOSans L</vt:lpstr>
      <vt:lpstr>Arial</vt:lpstr>
      <vt:lpstr>PPT模板标准文件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au95mur</dc:creator>
  <cp:lastModifiedBy>au95mur</cp:lastModifiedBy>
  <cp:revision>17</cp:revision>
  <dcterms:created xsi:type="dcterms:W3CDTF">2025-06-28T03:06:22Z</dcterms:created>
  <dcterms:modified xsi:type="dcterms:W3CDTF">2025-06-28T06:40:21Z</dcterms:modified>
</cp:coreProperties>
</file>